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DM Sans" charset="1" panose="00000000000000000000"/>
      <p:regular r:id="rId9"/>
    </p:embeddedFont>
    <p:embeddedFont>
      <p:font typeface="FF Providence Sans Bold" charset="1" panose="04010805020101010101"/>
      <p:regular r:id="rId10"/>
    </p:embeddedFont>
    <p:embeddedFont>
      <p:font typeface="Dekko" charset="1" panose="00000500000000000000"/>
      <p:regular r:id="rId11"/>
    </p:embeddedFont>
    <p:embeddedFont>
      <p:font typeface="Aloja" charset="1" panose="02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5791" y="285750"/>
            <a:ext cx="7126185" cy="9715500"/>
            <a:chOff x="0" y="0"/>
            <a:chExt cx="1072489" cy="14621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2489" cy="1462180"/>
            </a:xfrm>
            <a:custGeom>
              <a:avLst/>
              <a:gdLst/>
              <a:ahLst/>
              <a:cxnLst/>
              <a:rect r="r" b="b" t="t" l="l"/>
              <a:pathLst>
                <a:path h="1462180" w="1072489">
                  <a:moveTo>
                    <a:pt x="32592" y="0"/>
                  </a:moveTo>
                  <a:lnTo>
                    <a:pt x="1039897" y="0"/>
                  </a:lnTo>
                  <a:cubicBezTo>
                    <a:pt x="1057897" y="0"/>
                    <a:pt x="1072489" y="14592"/>
                    <a:pt x="1072489" y="32592"/>
                  </a:cubicBezTo>
                  <a:lnTo>
                    <a:pt x="1072489" y="1429588"/>
                  </a:lnTo>
                  <a:cubicBezTo>
                    <a:pt x="1072489" y="1447588"/>
                    <a:pt x="1057897" y="1462180"/>
                    <a:pt x="1039897" y="1462180"/>
                  </a:cubicBezTo>
                  <a:lnTo>
                    <a:pt x="32592" y="1462180"/>
                  </a:lnTo>
                  <a:cubicBezTo>
                    <a:pt x="23948" y="1462180"/>
                    <a:pt x="15658" y="1458746"/>
                    <a:pt x="9546" y="1452634"/>
                  </a:cubicBezTo>
                  <a:cubicBezTo>
                    <a:pt x="3434" y="1446522"/>
                    <a:pt x="0" y="1438232"/>
                    <a:pt x="0" y="1429588"/>
                  </a:cubicBezTo>
                  <a:lnTo>
                    <a:pt x="0" y="32592"/>
                  </a:lnTo>
                  <a:cubicBezTo>
                    <a:pt x="0" y="14592"/>
                    <a:pt x="14592" y="0"/>
                    <a:pt x="3259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2" r="0" b="-15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31213" y="8199108"/>
            <a:ext cx="4435078" cy="1602117"/>
            <a:chOff x="0" y="0"/>
            <a:chExt cx="5913437" cy="213615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769794"/>
              <a:ext cx="5099218" cy="1366362"/>
              <a:chOff x="0" y="0"/>
              <a:chExt cx="677333" cy="18149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77333" cy="181495"/>
              </a:xfrm>
              <a:custGeom>
                <a:avLst/>
                <a:gdLst/>
                <a:ahLst/>
                <a:cxnLst/>
                <a:rect r="r" b="b" t="t" l="l"/>
                <a:pathLst>
                  <a:path h="181495" w="677333">
                    <a:moveTo>
                      <a:pt x="90748" y="0"/>
                    </a:moveTo>
                    <a:lnTo>
                      <a:pt x="586586" y="0"/>
                    </a:lnTo>
                    <a:cubicBezTo>
                      <a:pt x="636704" y="0"/>
                      <a:pt x="677333" y="40629"/>
                      <a:pt x="677333" y="90748"/>
                    </a:cubicBezTo>
                    <a:lnTo>
                      <a:pt x="677333" y="90748"/>
                    </a:lnTo>
                    <a:cubicBezTo>
                      <a:pt x="677333" y="114815"/>
                      <a:pt x="667772" y="137897"/>
                      <a:pt x="650754" y="154916"/>
                    </a:cubicBezTo>
                    <a:cubicBezTo>
                      <a:pt x="633736" y="171934"/>
                      <a:pt x="610654" y="181495"/>
                      <a:pt x="586586" y="181495"/>
                    </a:cubicBezTo>
                    <a:lnTo>
                      <a:pt x="90748" y="181495"/>
                    </a:lnTo>
                    <a:cubicBezTo>
                      <a:pt x="66680" y="181495"/>
                      <a:pt x="43598" y="171934"/>
                      <a:pt x="26579" y="154916"/>
                    </a:cubicBezTo>
                    <a:cubicBezTo>
                      <a:pt x="9561" y="137897"/>
                      <a:pt x="0" y="114815"/>
                      <a:pt x="0" y="90748"/>
                    </a:cubicBezTo>
                    <a:lnTo>
                      <a:pt x="0" y="90748"/>
                    </a:lnTo>
                    <a:cubicBezTo>
                      <a:pt x="0" y="66680"/>
                      <a:pt x="9561" y="43598"/>
                      <a:pt x="26579" y="26579"/>
                    </a:cubicBezTo>
                    <a:cubicBezTo>
                      <a:pt x="43598" y="9561"/>
                      <a:pt x="66680" y="0"/>
                      <a:pt x="90748" y="0"/>
                    </a:cubicBezTo>
                    <a:close/>
                  </a:path>
                </a:pathLst>
              </a:custGeom>
              <a:solidFill>
                <a:srgbClr val="4A90E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0"/>
                <a:ext cx="677333" cy="181495"/>
              </a:xfrm>
              <a:prstGeom prst="rect">
                <a:avLst/>
              </a:prstGeom>
            </p:spPr>
            <p:txBody>
              <a:bodyPr anchor="ctr" rtlCol="false" tIns="44408" lIns="44408" bIns="44408" rIns="44408"/>
              <a:lstStyle/>
              <a:p>
                <a:pPr algn="ctr">
                  <a:lnSpc>
                    <a:spcPts val="287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-2700000">
              <a:off x="4944185" y="162042"/>
              <a:ext cx="796937" cy="817483"/>
            </a:xfrm>
            <a:custGeom>
              <a:avLst/>
              <a:gdLst/>
              <a:ahLst/>
              <a:cxnLst/>
              <a:rect r="r" b="b" t="t" l="l"/>
              <a:pathLst>
                <a:path h="817483" w="796937">
                  <a:moveTo>
                    <a:pt x="0" y="0"/>
                  </a:moveTo>
                  <a:lnTo>
                    <a:pt x="796937" y="0"/>
                  </a:lnTo>
                  <a:lnTo>
                    <a:pt x="796937" y="817483"/>
                  </a:lnTo>
                  <a:lnTo>
                    <a:pt x="0" y="817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36149" y="1031689"/>
              <a:ext cx="4426920" cy="842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39"/>
                </a:lnSpc>
                <a:spcBef>
                  <a:spcPct val="0"/>
                </a:spcBef>
              </a:pPr>
              <a:r>
                <a:rPr lang="en-US" sz="4199">
                  <a:solidFill>
                    <a:srgbClr val="C0D6DF"/>
                  </a:solidFill>
                  <a:latin typeface="DM Sans"/>
                  <a:ea typeface="DM Sans"/>
                  <a:cs typeface="DM Sans"/>
                  <a:sym typeface="DM Sans"/>
                </a:rPr>
                <a:t>YASH GOEL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34555" y="4071268"/>
            <a:ext cx="4184432" cy="6667605"/>
          </a:xfrm>
          <a:custGeom>
            <a:avLst/>
            <a:gdLst/>
            <a:ahLst/>
            <a:cxnLst/>
            <a:rect r="r" b="b" t="t" l="l"/>
            <a:pathLst>
              <a:path h="6667605" w="4184432">
                <a:moveTo>
                  <a:pt x="0" y="0"/>
                </a:moveTo>
                <a:lnTo>
                  <a:pt x="4184432" y="0"/>
                </a:lnTo>
                <a:lnTo>
                  <a:pt x="4184432" y="6667604"/>
                </a:lnTo>
                <a:lnTo>
                  <a:pt x="0" y="6667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19" t="0" r="-6419" b="-90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10291" y="485775"/>
            <a:ext cx="10067925" cy="271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67"/>
              </a:lnSpc>
            </a:pPr>
            <a:r>
              <a:rPr lang="en-US" sz="10467" spc="-314">
                <a:solidFill>
                  <a:srgbClr val="C0D6DF"/>
                </a:solidFill>
                <a:latin typeface="DM Sans"/>
                <a:ea typeface="DM Sans"/>
                <a:cs typeface="DM Sans"/>
                <a:sym typeface="DM Sans"/>
              </a:rPr>
              <a:t>The Rise of Influencer Market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01425" y="638175"/>
            <a:ext cx="68865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4"/>
              </a:lnSpc>
            </a:pPr>
            <a:r>
              <a:rPr lang="en-US" sz="26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March 12,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4555" y="3299743"/>
            <a:ext cx="1041939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18"/>
              </a:lnSpc>
            </a:pPr>
            <a:r>
              <a:rPr lang="en-US" b="true" sz="4015">
                <a:solidFill>
                  <a:srgbClr val="C0D6DF"/>
                </a:solidFill>
                <a:latin typeface="FF Providence Sans Bold"/>
                <a:ea typeface="FF Providence Sans Bold"/>
                <a:cs typeface="FF Providence Sans Bold"/>
                <a:sym typeface="FF Providence Sans Bold"/>
              </a:rPr>
              <a:t>(F</a:t>
            </a:r>
            <a:r>
              <a:rPr lang="en-US" b="true" sz="4015">
                <a:solidFill>
                  <a:srgbClr val="C0D6DF"/>
                </a:solidFill>
                <a:latin typeface="FF Providence Sans Bold"/>
                <a:ea typeface="FF Providence Sans Bold"/>
                <a:cs typeface="FF Providence Sans Bold"/>
                <a:sym typeface="FF Providence Sans Bold"/>
              </a:rPr>
              <a:t>rom Viral Clips to a $500B Economy)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1627" y="4733332"/>
            <a:ext cx="3790287" cy="452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9"/>
              </a:lnSpc>
              <a:spcBef>
                <a:spcPct val="0"/>
              </a:spcBef>
            </a:pPr>
            <a:r>
              <a:rPr lang="en-US" sz="4324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The Trust Shift: 92% </a:t>
            </a:r>
            <a:r>
              <a:rPr lang="en-US" sz="4324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of users now trust individual creators over traditional brand advertisements.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844253" y="4071268"/>
            <a:ext cx="4184432" cy="6667605"/>
          </a:xfrm>
          <a:custGeom>
            <a:avLst/>
            <a:gdLst/>
            <a:ahLst/>
            <a:cxnLst/>
            <a:rect r="r" b="b" t="t" l="l"/>
            <a:pathLst>
              <a:path h="6667605" w="4184432">
                <a:moveTo>
                  <a:pt x="0" y="0"/>
                </a:moveTo>
                <a:lnTo>
                  <a:pt x="4184432" y="0"/>
                </a:lnTo>
                <a:lnTo>
                  <a:pt x="4184432" y="6667604"/>
                </a:lnTo>
                <a:lnTo>
                  <a:pt x="0" y="6667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419" t="0" r="-6419" b="-90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041326" y="4733332"/>
            <a:ext cx="3790287" cy="452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9"/>
              </a:lnSpc>
              <a:spcBef>
                <a:spcPct val="0"/>
              </a:spcBef>
            </a:pPr>
            <a:r>
              <a:rPr lang="en-US" sz="4324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The Economy: A $500B Gl</a:t>
            </a:r>
            <a:r>
              <a:rPr lang="en-US" sz="4324">
                <a:solidFill>
                  <a:srgbClr val="000000"/>
                </a:solidFill>
                <a:latin typeface="Dekko"/>
                <a:ea typeface="Dekko"/>
                <a:cs typeface="Dekko"/>
                <a:sym typeface="Dekko"/>
              </a:rPr>
              <a:t>obal Powerhouse growing at 25% annually, driven by Reels and Shorts.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5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5446" y="-193953"/>
            <a:ext cx="8716804" cy="10195472"/>
            <a:chOff x="0" y="0"/>
            <a:chExt cx="2295784" cy="2685227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295784" cy="2685227"/>
            </a:xfrm>
            <a:custGeom>
              <a:avLst/>
              <a:gdLst/>
              <a:ahLst/>
              <a:cxnLst/>
              <a:rect r="r" b="b" t="t" l="l"/>
              <a:pathLst>
                <a:path h="2685227" w="2295784">
                  <a:moveTo>
                    <a:pt x="26645" y="0"/>
                  </a:moveTo>
                  <a:lnTo>
                    <a:pt x="2269139" y="0"/>
                  </a:lnTo>
                  <a:cubicBezTo>
                    <a:pt x="2283854" y="0"/>
                    <a:pt x="2295784" y="11929"/>
                    <a:pt x="2295784" y="26645"/>
                  </a:cubicBezTo>
                  <a:lnTo>
                    <a:pt x="2295784" y="2658582"/>
                  </a:lnTo>
                  <a:cubicBezTo>
                    <a:pt x="2295784" y="2665649"/>
                    <a:pt x="2292977" y="2672426"/>
                    <a:pt x="2287980" y="2677423"/>
                  </a:cubicBezTo>
                  <a:cubicBezTo>
                    <a:pt x="2282983" y="2682420"/>
                    <a:pt x="2276206" y="2685227"/>
                    <a:pt x="2269139" y="2685227"/>
                  </a:cubicBezTo>
                  <a:lnTo>
                    <a:pt x="26645" y="2685227"/>
                  </a:lnTo>
                  <a:cubicBezTo>
                    <a:pt x="11929" y="2685227"/>
                    <a:pt x="0" y="2673298"/>
                    <a:pt x="0" y="2658582"/>
                  </a:cubicBezTo>
                  <a:lnTo>
                    <a:pt x="0" y="26645"/>
                  </a:lnTo>
                  <a:cubicBezTo>
                    <a:pt x="0" y="11929"/>
                    <a:pt x="11929" y="0"/>
                    <a:pt x="26645" y="0"/>
                  </a:cubicBezTo>
                  <a:close/>
                </a:path>
              </a:pathLst>
            </a:custGeom>
            <a:solidFill>
              <a:srgbClr val="4A90E2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95784" cy="2713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750" y="287475"/>
            <a:ext cx="8716804" cy="10445772"/>
            <a:chOff x="0" y="0"/>
            <a:chExt cx="2295784" cy="27511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295784" cy="2751150"/>
            </a:xfrm>
            <a:custGeom>
              <a:avLst/>
              <a:gdLst/>
              <a:ahLst/>
              <a:cxnLst/>
              <a:rect r="r" b="b" t="t" l="l"/>
              <a:pathLst>
                <a:path h="2751150" w="2295784">
                  <a:moveTo>
                    <a:pt x="26645" y="0"/>
                  </a:moveTo>
                  <a:lnTo>
                    <a:pt x="2269139" y="0"/>
                  </a:lnTo>
                  <a:cubicBezTo>
                    <a:pt x="2283854" y="0"/>
                    <a:pt x="2295784" y="11929"/>
                    <a:pt x="2295784" y="26645"/>
                  </a:cubicBezTo>
                  <a:lnTo>
                    <a:pt x="2295784" y="2724505"/>
                  </a:lnTo>
                  <a:cubicBezTo>
                    <a:pt x="2295784" y="2739220"/>
                    <a:pt x="2283854" y="2751150"/>
                    <a:pt x="2269139" y="2751150"/>
                  </a:cubicBezTo>
                  <a:lnTo>
                    <a:pt x="26645" y="2751150"/>
                  </a:lnTo>
                  <a:cubicBezTo>
                    <a:pt x="11929" y="2751150"/>
                    <a:pt x="0" y="2739220"/>
                    <a:pt x="0" y="2724505"/>
                  </a:cubicBezTo>
                  <a:lnTo>
                    <a:pt x="0" y="26645"/>
                  </a:lnTo>
                  <a:cubicBezTo>
                    <a:pt x="0" y="11929"/>
                    <a:pt x="11929" y="0"/>
                    <a:pt x="26645" y="0"/>
                  </a:cubicBezTo>
                  <a:close/>
                </a:path>
              </a:pathLst>
            </a:custGeom>
            <a:solidFill>
              <a:srgbClr val="C0D6D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95784" cy="277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1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10645283">
            <a:off x="595882" y="2005758"/>
            <a:ext cx="865636" cy="848763"/>
          </a:xfrm>
          <a:custGeom>
            <a:avLst/>
            <a:gdLst/>
            <a:ahLst/>
            <a:cxnLst/>
            <a:rect r="r" b="b" t="t" l="l"/>
            <a:pathLst>
              <a:path h="848763" w="865636">
                <a:moveTo>
                  <a:pt x="0" y="0"/>
                </a:moveTo>
                <a:lnTo>
                  <a:pt x="865636" y="0"/>
                </a:lnTo>
                <a:lnTo>
                  <a:pt x="865636" y="848762"/>
                </a:lnTo>
                <a:lnTo>
                  <a:pt x="0" y="848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541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58783" y="1986715"/>
            <a:ext cx="6924134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4"/>
              </a:lnSpc>
            </a:pPr>
            <a:r>
              <a:rPr lang="en-US" sz="4428">
                <a:solidFill>
                  <a:srgbClr val="354651"/>
                </a:solidFill>
                <a:latin typeface="Dekko"/>
                <a:ea typeface="Dekko"/>
                <a:cs typeface="Dekko"/>
                <a:sym typeface="Dekko"/>
              </a:rPr>
              <a:t>Mic</a:t>
            </a:r>
            <a:r>
              <a:rPr lang="en-US" sz="4428">
                <a:solidFill>
                  <a:srgbClr val="354651"/>
                </a:solidFill>
                <a:latin typeface="Dekko"/>
                <a:ea typeface="Dekko"/>
                <a:cs typeface="Dekko"/>
                <a:sym typeface="Dekko"/>
              </a:rPr>
              <a:t>ro-Power: Creators with &lt;50k followers see 7x higher engagement than celebrities. (Niche &gt; Mass)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8783" y="549905"/>
            <a:ext cx="14687541" cy="94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0"/>
              </a:lnSpc>
            </a:pPr>
            <a:r>
              <a:rPr lang="en-US" sz="6200" spc="-186">
                <a:solidFill>
                  <a:srgbClr val="354651"/>
                </a:solidFill>
                <a:latin typeface="Aloja"/>
                <a:ea typeface="Aloja"/>
                <a:cs typeface="Aloja"/>
                <a:sym typeface="Aloja"/>
              </a:rPr>
              <a:t>Th</a:t>
            </a:r>
            <a:r>
              <a:rPr lang="en-US" sz="6200" spc="-186">
                <a:solidFill>
                  <a:srgbClr val="354651"/>
                </a:solidFill>
                <a:latin typeface="Aloja"/>
                <a:ea typeface="Aloja"/>
                <a:cs typeface="Aloja"/>
                <a:sym typeface="Aloja"/>
              </a:rPr>
              <a:t>e 2026 Playbook :             Why It Works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10645283">
            <a:off x="595882" y="5796153"/>
            <a:ext cx="865636" cy="848763"/>
          </a:xfrm>
          <a:custGeom>
            <a:avLst/>
            <a:gdLst/>
            <a:ahLst/>
            <a:cxnLst/>
            <a:rect r="r" b="b" t="t" l="l"/>
            <a:pathLst>
              <a:path h="848763" w="865636">
                <a:moveTo>
                  <a:pt x="0" y="0"/>
                </a:moveTo>
                <a:lnTo>
                  <a:pt x="865636" y="0"/>
                </a:lnTo>
                <a:lnTo>
                  <a:pt x="865636" y="848763"/>
                </a:lnTo>
                <a:lnTo>
                  <a:pt x="0" y="848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541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645283">
            <a:off x="9533367" y="1971668"/>
            <a:ext cx="865636" cy="848763"/>
          </a:xfrm>
          <a:custGeom>
            <a:avLst/>
            <a:gdLst/>
            <a:ahLst/>
            <a:cxnLst/>
            <a:rect r="r" b="b" t="t" l="l"/>
            <a:pathLst>
              <a:path h="848763" w="865636">
                <a:moveTo>
                  <a:pt x="0" y="0"/>
                </a:moveTo>
                <a:lnTo>
                  <a:pt x="865636" y="0"/>
                </a:lnTo>
                <a:lnTo>
                  <a:pt x="865636" y="848762"/>
                </a:lnTo>
                <a:lnTo>
                  <a:pt x="0" y="848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541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645283">
            <a:off x="9533367" y="5796153"/>
            <a:ext cx="865636" cy="848763"/>
          </a:xfrm>
          <a:custGeom>
            <a:avLst/>
            <a:gdLst/>
            <a:ahLst/>
            <a:cxnLst/>
            <a:rect r="r" b="b" t="t" l="l"/>
            <a:pathLst>
              <a:path h="848763" w="865636">
                <a:moveTo>
                  <a:pt x="0" y="0"/>
                </a:moveTo>
                <a:lnTo>
                  <a:pt x="865636" y="0"/>
                </a:lnTo>
                <a:lnTo>
                  <a:pt x="865636" y="848763"/>
                </a:lnTo>
                <a:lnTo>
                  <a:pt x="0" y="848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541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19170" y="5893058"/>
            <a:ext cx="6924134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4"/>
              </a:lnSpc>
            </a:pPr>
            <a:r>
              <a:rPr lang="en-US" sz="4428">
                <a:solidFill>
                  <a:srgbClr val="354651"/>
                </a:solidFill>
                <a:latin typeface="Dekko"/>
                <a:ea typeface="Dekko"/>
                <a:cs typeface="Dekko"/>
                <a:sym typeface="Dekko"/>
              </a:rPr>
              <a:t>UGC Engine: Use</a:t>
            </a:r>
            <a:r>
              <a:rPr lang="en-US" sz="4428">
                <a:solidFill>
                  <a:srgbClr val="354651"/>
                </a:solidFill>
                <a:latin typeface="Dekko"/>
                <a:ea typeface="Dekko"/>
                <a:cs typeface="Dekko"/>
                <a:sym typeface="Dekko"/>
              </a:rPr>
              <a:t>r-Generated Content is 3x more effective at converting sales than studio-shot ads.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17657" y="1911715"/>
            <a:ext cx="7234267" cy="299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3"/>
              </a:lnSpc>
            </a:pPr>
            <a:r>
              <a:rPr lang="en-US" sz="4952">
                <a:solidFill>
                  <a:srgbClr val="C0D6DF"/>
                </a:solidFill>
                <a:latin typeface="Dekko"/>
                <a:ea typeface="Dekko"/>
                <a:cs typeface="Dekko"/>
                <a:sym typeface="Dekko"/>
              </a:rPr>
              <a:t>The 3-Click </a:t>
            </a:r>
            <a:r>
              <a:rPr lang="en-US" sz="4952">
                <a:solidFill>
                  <a:srgbClr val="C0D6DF"/>
                </a:solidFill>
                <a:latin typeface="Dekko"/>
                <a:ea typeface="Dekko"/>
                <a:cs typeface="Dekko"/>
                <a:sym typeface="Dekko"/>
              </a:rPr>
              <a:t>Pipeline: Reduced latency from Discovery → WhatsApp →  UPI Payment to under 30 seconds.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17657" y="5893058"/>
            <a:ext cx="7234267" cy="219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1"/>
              </a:lnSpc>
            </a:pPr>
            <a:r>
              <a:rPr lang="en-US" sz="4851">
                <a:solidFill>
                  <a:srgbClr val="C0D6DF"/>
                </a:solidFill>
                <a:latin typeface="Dekko"/>
                <a:ea typeface="Dekko"/>
                <a:cs typeface="Dekko"/>
                <a:sym typeface="Dekko"/>
              </a:rPr>
              <a:t>Th</a:t>
            </a:r>
            <a:r>
              <a:rPr lang="en-US" sz="4851">
                <a:solidFill>
                  <a:srgbClr val="C0D6DF"/>
                </a:solidFill>
                <a:latin typeface="Dekko"/>
                <a:ea typeface="Dekko"/>
                <a:cs typeface="Dekko"/>
                <a:sym typeface="Dekko"/>
              </a:rPr>
              <a:t>e Verdict: If it looks like an ad, it’s a fail. If it feels like a friend’s tip, it’s a sale.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F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194532"/>
            <a:ext cx="16954500" cy="173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99"/>
              </a:lnSpc>
            </a:pPr>
            <a:r>
              <a:rPr lang="en-US" sz="12999" spc="-389">
                <a:solidFill>
                  <a:srgbClr val="C0D6DF"/>
                </a:solidFill>
                <a:latin typeface="DM Sans"/>
                <a:ea typeface="DM Sans"/>
                <a:cs typeface="DM Sans"/>
                <a:sym typeface="DM Sans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37794" y="6229069"/>
            <a:ext cx="13716000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00"/>
              </a:lnSpc>
            </a:pPr>
            <a:r>
              <a:rPr lang="en-US" sz="5000" spc="-150">
                <a:solidFill>
                  <a:srgbClr val="C0D6DF"/>
                </a:solidFill>
                <a:latin typeface="DM Sans"/>
                <a:ea typeface="DM Sans"/>
                <a:cs typeface="DM Sans"/>
                <a:sym typeface="DM Sans"/>
              </a:rPr>
              <a:t>ANY QUERIES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The Rise of Influencer Market</dc:description>
  <dc:identifier>DAHDp-hlkI8</dc:identifier>
  <dcterms:modified xsi:type="dcterms:W3CDTF">2011-08-01T06:04:30Z</dcterms:modified>
  <cp:revision>1</cp:revision>
  <dc:title>Presentation - The Rise of Influencer Market</dc:title>
</cp:coreProperties>
</file>